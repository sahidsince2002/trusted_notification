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mo Bold" charset="1" panose="020B0704020202020204"/>
      <p:regular r:id="rId27"/>
    </p:embeddedFont>
    <p:embeddedFont>
      <p:font typeface="Glacial Indifference" charset="1" panose="00000000000000000000"/>
      <p:regular r:id="rId28"/>
    </p:embeddedFont>
    <p:embeddedFont>
      <p:font typeface="Glacial Indifference Bold" charset="1" panose="00000800000000000000"/>
      <p:regular r:id="rId29"/>
    </p:embeddedFont>
    <p:embeddedFont>
      <p:font typeface="Arimo" charset="1" panose="020B0604020202020204"/>
      <p:regular r:id="rId30"/>
    </p:embeddedFont>
    <p:embeddedFont>
      <p:font typeface="Roboto Mono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https://docs.google.com/spreadsheets/d/1MNocFvaiHe1r0fEUS_cWJG4yPJCrRqJvW3C39--HeA4/edit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G7Al1hrh0.mp4" Type="http://schemas.openxmlformats.org/officeDocument/2006/relationships/video"/><Relationship Id="rId4" Target="../media/VAG7Al1hrh0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VAG7ArGKa7Y.mp4" Type="http://schemas.openxmlformats.org/officeDocument/2006/relationships/video"/><Relationship Id="rId4" Target="../media/VAG7ArGKa7Y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linkedin.com/in/sahid-ahmed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41408" y="82296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6218380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4114800"/>
                </a:moveTo>
                <a:lnTo>
                  <a:pt x="2611028" y="4114800"/>
                </a:lnTo>
                <a:lnTo>
                  <a:pt x="261102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22146" y="3746109"/>
            <a:ext cx="11736267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TRUSTED NOTIFICATION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01912" y="9531889"/>
            <a:ext cx="1510221" cy="1510221"/>
          </a:xfrm>
          <a:custGeom>
            <a:avLst/>
            <a:gdLst/>
            <a:ahLst/>
            <a:cxnLst/>
            <a:rect r="r" b="b" t="t" l="l"/>
            <a:pathLst>
              <a:path h="1510221" w="1510221">
                <a:moveTo>
                  <a:pt x="0" y="0"/>
                </a:moveTo>
                <a:lnTo>
                  <a:pt x="1510221" y="0"/>
                </a:lnTo>
                <a:lnTo>
                  <a:pt x="1510221" y="1510222"/>
                </a:lnTo>
                <a:lnTo>
                  <a:pt x="0" y="151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01912" y="-755111"/>
            <a:ext cx="1510221" cy="1510221"/>
          </a:xfrm>
          <a:custGeom>
            <a:avLst/>
            <a:gdLst/>
            <a:ahLst/>
            <a:cxnLst/>
            <a:rect r="r" b="b" t="t" l="l"/>
            <a:pathLst>
              <a:path h="1510221" w="1510221">
                <a:moveTo>
                  <a:pt x="0" y="0"/>
                </a:moveTo>
                <a:lnTo>
                  <a:pt x="1510221" y="0"/>
                </a:lnTo>
                <a:lnTo>
                  <a:pt x="1510221" y="1510222"/>
                </a:lnTo>
                <a:lnTo>
                  <a:pt x="0" y="151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12133" y="9213897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2" y="0"/>
                </a:lnTo>
                <a:lnTo>
                  <a:pt x="3745232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69365" y="-2672129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2" y="0"/>
                </a:lnTo>
                <a:lnTo>
                  <a:pt x="3745232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78753" y="5418137"/>
            <a:ext cx="633049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 Sahid Ahmed Laskar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0556" y="6601999"/>
            <a:ext cx="10981156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Roll No.: CU.06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College: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COTTON UNIVERSITY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Course: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Master’s of Computer Application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sahidahmed24680@gmail.com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Mentor: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Neetesh Bhardwaj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75867" y="4567422"/>
            <a:ext cx="11736267" cy="69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  <a:spcBef>
                <a:spcPct val="0"/>
              </a:spcBef>
            </a:pPr>
            <a:r>
              <a:rPr lang="en-US" sz="20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reliabl</a:t>
            </a:r>
            <a:r>
              <a:rPr lang="en-US" sz="20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e, safe, and timely notification delivery platform with intelligent routing, spam filtering, and comprehensive retry mechanisms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6112" y="-1872616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1" y="0"/>
                </a:lnTo>
                <a:lnTo>
                  <a:pt x="3745231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4374" y="1321589"/>
            <a:ext cx="6432072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EVENT CLASSIFICATION FRAMEWORK (MASTER SHEET)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30905"/>
            <a:ext cx="16230600" cy="638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 of Event Classification</a:t>
            </a: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objective of this section is to categorize all notification event types using a structured and data-backed model. This classification helps in: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Selecting the optimal primary channel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Designing the right fallback sequence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Prioritizing events requiring Secure Inbox storage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Building system-level routing rules</a:t>
            </a:r>
          </a:p>
          <a:p>
            <a:pPr algn="just" marL="669286" indent="-334643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Improving delivery success and customer trust</a:t>
            </a: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4339"/>
              </a:lnSpc>
            </a:pP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028700" y="2754842"/>
            <a:ext cx="177189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93826">
            <a:off x="-1881242" y="784039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5"/>
                </a:lnTo>
                <a:lnTo>
                  <a:pt x="0" y="592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64953" y="1543219"/>
            <a:ext cx="6558093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DATA SOURCES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2609" y="4992301"/>
            <a:ext cx="5614918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Ev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 volume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Retry frequency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Historical delivery performance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3984952" y="3982651"/>
            <a:ext cx="1031809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605883" y="5086350"/>
            <a:ext cx="5566164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Customer-level notification logs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Intended channel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Delivery outcomes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Retry attempts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 actions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144000" y="2676694"/>
            <a:ext cx="0" cy="12869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-326389" y="1272291"/>
            <a:ext cx="1651672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25587" y="2900481"/>
            <a:ext cx="181743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872709" y="3352247"/>
            <a:ext cx="655809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EVENT_TYPE_STATS.XLSX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02806" y="3352247"/>
            <a:ext cx="655809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TRUSTED_NOTIFICATIONS.XLSX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572" y="8178165"/>
            <a:ext cx="1406623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These datasets were used to calculate channel performance, engagement trends, and failure patterns.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14" id="14"/>
          <p:cNvSpPr/>
          <p:nvPr/>
        </p:nvSpPr>
        <p:spPr>
          <a:xfrm flipV="true">
            <a:off x="3984952" y="3982651"/>
            <a:ext cx="0" cy="7933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4283998" y="3963601"/>
            <a:ext cx="0" cy="7933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4953" y="1609894"/>
            <a:ext cx="655809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CLASSIFICATION PARAMETERS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9144000" y="2676694"/>
            <a:ext cx="0" cy="6801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26389" y="1272291"/>
            <a:ext cx="1783562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2630582"/>
            <a:ext cx="17594867" cy="1958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320797" y="3129475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41936" y="2769232"/>
            <a:ext cx="56149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 Category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(Authentication, Security, Transaction, Reminder, Service, Marketing)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9144000" y="3598950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396419" y="336273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Criticality Level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/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Medium / Low)</a:t>
            </a:r>
          </a:p>
        </p:txBody>
      </p:sp>
      <p:sp>
        <p:nvSpPr>
          <p:cNvPr name="AutoShape 10" id="10"/>
          <p:cNvSpPr/>
          <p:nvPr/>
        </p:nvSpPr>
        <p:spPr>
          <a:xfrm>
            <a:off x="7320797" y="4360950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41936" y="412473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Risk Level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/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Medium / Low)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9144000" y="4827675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396419" y="4588082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Co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unt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(Volume)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320797" y="5311545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41936" y="508635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Retry Percenta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9144000" y="5904983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396419" y="5536772"/>
            <a:ext cx="56149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Most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Common I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ntended Channel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(from actual send data)</a:t>
            </a:r>
          </a:p>
        </p:txBody>
      </p:sp>
      <p:sp>
        <p:nvSpPr>
          <p:cNvPr name="AutoShape 18" id="18"/>
          <p:cNvSpPr/>
          <p:nvPr/>
        </p:nvSpPr>
        <p:spPr>
          <a:xfrm>
            <a:off x="7320797" y="6457200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541936" y="622098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Delivery Success Percenta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96419" y="6579120"/>
            <a:ext cx="5614918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omer Action Tr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end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(Viewed, Ignored, Clicked, Reported Spam, Contacted Support)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9144000" y="6981308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541936" y="7264920"/>
            <a:ext cx="561491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Priority Score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(Risk + Criticality + Delivery Risk)</a:t>
            </a:r>
          </a:p>
        </p:txBody>
      </p:sp>
      <p:sp>
        <p:nvSpPr>
          <p:cNvPr name="AutoShape 23" id="23"/>
          <p:cNvSpPr/>
          <p:nvPr/>
        </p:nvSpPr>
        <p:spPr>
          <a:xfrm flipH="true">
            <a:off x="9144000" y="8343383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1396419" y="804216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ecomm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ended Primary Channel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1936" y="8286233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Fallback Channels</a:t>
            </a:r>
          </a:p>
        </p:txBody>
      </p:sp>
      <p:sp>
        <p:nvSpPr>
          <p:cNvPr name="AutoShape 26" id="26"/>
          <p:cNvSpPr/>
          <p:nvPr/>
        </p:nvSpPr>
        <p:spPr>
          <a:xfrm>
            <a:off x="7320797" y="7571858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7320797" y="8541503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9144000" y="9133958"/>
            <a:ext cx="18232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1396419" y="8843010"/>
            <a:ext cx="561491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S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ecur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 Inbox Requirement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(Yes, No)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809930" y="1577975"/>
            <a:ext cx="87075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547609"/>
            <a:ext cx="16230600" cy="2426412"/>
          </a:xfrm>
          <a:custGeom>
            <a:avLst/>
            <a:gdLst/>
            <a:ahLst/>
            <a:cxnLst/>
            <a:rect r="r" b="b" t="t" l="l"/>
            <a:pathLst>
              <a:path h="2426412" w="16230600">
                <a:moveTo>
                  <a:pt x="0" y="0"/>
                </a:moveTo>
                <a:lnTo>
                  <a:pt x="16230600" y="0"/>
                </a:lnTo>
                <a:lnTo>
                  <a:pt x="16230600" y="2426412"/>
                </a:lnTo>
                <a:lnTo>
                  <a:pt x="0" y="2426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00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4591" y="1273175"/>
            <a:ext cx="75448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MASTER SHEET SNAPSHORT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8109" y="6958661"/>
            <a:ext cx="1601178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Master Sheet forms the foundation of the Trusted Notification Engine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518" y="7964501"/>
            <a:ext cx="1601178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u="sng">
                <a:solidFill>
                  <a:srgbClr val="004AAD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tooltip="https://docs.google.com/spreadsheets/d/1MNocFvaiHe1r0fEUS_cWJG4yPJCrRqJvW3C39--HeA4/edit?usp=sharing"/>
              </a:rPr>
              <a:t>https://docs.google.com/spreadsheets/d/1MNocFvaiHe1r0fEUS_cWJG4yPJCrRqJvW3C39--HeA4/edit?usp=sharing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7518" y="7461581"/>
            <a:ext cx="1601178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Master Sheet Link 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884783" y="4437176"/>
            <a:ext cx="86198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1693826">
            <a:off x="-1881242" y="784039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5"/>
                </a:lnTo>
                <a:lnTo>
                  <a:pt x="0" y="592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2789" y="4150360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Policy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11674" y="4618355"/>
            <a:ext cx="505078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PURPOSE OF MASTER SHEET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81499" y="2255336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Escalation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33321" y="2255336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Retry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75314" y="5683231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Channel priority &amp; fallback ordering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353504" y="5919451"/>
            <a:ext cx="72538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5446608" y="4985727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Dynamically Provides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8984416" y="5878243"/>
            <a:ext cx="0" cy="12279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342423" y="7366461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 Rate Simulation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6361473" y="3261176"/>
            <a:ext cx="0" cy="12279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711544" y="3209260"/>
            <a:ext cx="0" cy="12279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93826">
            <a:off x="-1881242" y="784039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5"/>
                </a:lnTo>
                <a:lnTo>
                  <a:pt x="0" y="592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79743" y="1397169"/>
            <a:ext cx="1052851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CHANNEL ROUTING &amp; FALLBACK LOGIC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65085" y="3185617"/>
            <a:ext cx="1255782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system implements a policy-driven routing engine which is derived from </a:t>
            </a: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Master-Sheet</a:t>
            </a:r>
          </a:p>
        </p:txBody>
      </p:sp>
      <p:sp>
        <p:nvSpPr>
          <p:cNvPr name="AutoShape 6" id="6"/>
          <p:cNvSpPr/>
          <p:nvPr/>
        </p:nvSpPr>
        <p:spPr>
          <a:xfrm>
            <a:off x="3705351" y="9258300"/>
            <a:ext cx="145826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059835" y="3947695"/>
            <a:ext cx="12557829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each event type, the engine generates: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Primary channel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Ordered fallback channels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retry attempts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Critical escalation workflow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Per-channel wait time (latency window)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Inbox requirement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4374" y="1302539"/>
            <a:ext cx="64320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ROUTING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4374" y="3440430"/>
            <a:ext cx="6432072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Example from running system: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BENEFICIARY ADDED ALERT (Critical)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Mode: PARALLEL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Channels: PUSH, SMS, EMAIL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Retries: 3 attempts each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Escalation: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PHONE_CALL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SECURE_INBOX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OPS_ALERT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Success-rate used: 48–52% (±5% variation)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028700" y="2754842"/>
            <a:ext cx="177189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25609" y="4220497"/>
            <a:ext cx="6432072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Behavior in System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 channels fire simultaneously.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channel with the earliest success stops all others.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ALL fail → escalation begins.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Missing inputs (e.g., no phone/email) return PERMANENT_FAILURE, still logged.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channel is skipped — system attempts them all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-793213" y="1009650"/>
            <a:ext cx="1488378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191237" y="4372058"/>
            <a:ext cx="7863712" cy="651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1693826">
            <a:off x="-1881242" y="784039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5"/>
                </a:lnTo>
                <a:lnTo>
                  <a:pt x="0" y="592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78885"/>
            <a:ext cx="528398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Reads channels dynamically per event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8610" y="4537075"/>
            <a:ext cx="505078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WHAT MAKES THIS ROUTING INTELLIGENT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75211" y="6887223"/>
            <a:ext cx="504021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Simulates provider reliability with random probability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69269" y="3926288"/>
            <a:ext cx="528398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Attempts ALL channels unless explicitly excluded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1039" y="5683231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Logs everything in real-time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743538" y="5919451"/>
            <a:ext cx="82075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6502007" y="2874461"/>
            <a:ext cx="52839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Automatically escalates failures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8886908" y="3661879"/>
            <a:ext cx="24377" cy="7101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6293636" y="5919451"/>
            <a:ext cx="0" cy="7105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5384" y="-1306043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2" y="0"/>
                </a:lnTo>
                <a:lnTo>
                  <a:pt x="3745232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4374" y="1302539"/>
            <a:ext cx="6432072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RETRY LOGIC &amp; ESCALATION (AS IMPLEMENTED IN CODE)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85442"/>
            <a:ext cx="4946860" cy="423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7"/>
              </a:lnSpc>
            </a:pPr>
            <a:r>
              <a:rPr lang="en-US" sz="207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Actual Retry Behavior</a:t>
            </a:r>
          </a:p>
          <a:p>
            <a:pPr algn="just">
              <a:lnSpc>
                <a:spcPts val="2584"/>
              </a:lnSpc>
            </a:pP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each channel:</a:t>
            </a:r>
          </a:p>
          <a:p>
            <a:pPr algn="just">
              <a:lnSpc>
                <a:spcPts val="2584"/>
              </a:lnSpc>
            </a:pP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for attempt in 1..max_attempts: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send to provider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if delivered: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stop retries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else if permanent failure: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breakelse:</a:t>
            </a:r>
          </a:p>
          <a:p>
            <a:pPr algn="just">
              <a:lnSpc>
                <a:spcPts val="2584"/>
              </a:lnSpc>
            </a:pPr>
            <a:r>
              <a:rPr lang="en-US" sz="18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wait and retry</a:t>
            </a:r>
          </a:p>
          <a:p>
            <a:pPr algn="just">
              <a:lnSpc>
                <a:spcPts val="2584"/>
              </a:lnSpc>
            </a:pPr>
          </a:p>
          <a:p>
            <a:pPr algn="just">
              <a:lnSpc>
                <a:spcPts val="2584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028700" y="2754842"/>
            <a:ext cx="177189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790153" y="3785442"/>
            <a:ext cx="5289868" cy="452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8"/>
              </a:lnSpc>
            </a:pPr>
            <a:r>
              <a:rPr lang="en-US" sz="222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Escalation (As Implemented)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all channels fail: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log("ESCALATION_TRIGGERED")</a:t>
            </a: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update_event_status("ESCALATED")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  <a:r>
              <a:rPr lang="en-US" sz="19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maps directly to:</a:t>
            </a:r>
          </a:p>
          <a:p>
            <a:pPr algn="just" marL="426145" indent="-213073" lvl="1">
              <a:lnSpc>
                <a:spcPts val="2763"/>
              </a:lnSpc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Fraud Ops alerts</a:t>
            </a:r>
          </a:p>
          <a:p>
            <a:pPr algn="just" marL="426145" indent="-213073" lvl="1">
              <a:lnSpc>
                <a:spcPts val="2763"/>
              </a:lnSpc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Inbox fallback</a:t>
            </a:r>
          </a:p>
          <a:p>
            <a:pPr algn="just" marL="426145" indent="-213073" lvl="1">
              <a:lnSpc>
                <a:spcPts val="2763"/>
              </a:lnSpc>
              <a:buFont typeface="Arial"/>
              <a:buChar char="•"/>
            </a:pPr>
            <a:r>
              <a:rPr lang="en-US" sz="197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OPS_ALERT for critical services</a:t>
            </a:r>
          </a:p>
          <a:p>
            <a:pPr algn="just">
              <a:lnSpc>
                <a:spcPts val="2763"/>
              </a:lnSpc>
            </a:pPr>
          </a:p>
          <a:p>
            <a:pPr algn="just">
              <a:lnSpc>
                <a:spcPts val="276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-573819" y="1009650"/>
            <a:ext cx="1293361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280046" y="3785442"/>
            <a:ext cx="7199551" cy="383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2"/>
              </a:lnSpc>
            </a:pPr>
            <a:r>
              <a:rPr lang="en-US" sz="2187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Effective Delivery Probability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 implemented enterprise-grade reliability</a:t>
            </a:r>
            <a:r>
              <a:rPr lang="en-US" sz="194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simulation: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effective_rate = configured_rate ± random(0–5%)</a:t>
            </a: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delivered = roll &lt;= effective_rate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mimics real vendor behavior.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5570798" y="3833210"/>
            <a:ext cx="0" cy="427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1060971" y="3745867"/>
            <a:ext cx="0" cy="42715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279436" y="2735734"/>
            <a:ext cx="920915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53734" y="1337464"/>
            <a:ext cx="489018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DASHBOARD &amp; ANALYTICS SYSTEM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24606" y="2993217"/>
            <a:ext cx="7834567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Tracks all notification attempts: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Across SMS, Email, Push, and WhatsApp, including retries, failures, and escalations, providing a complete event-level audit trail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Aggregates volume by event type: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Enabling the system to visualize which notifications—such as OTPs, fraud alerts, or reminders—generate the highest load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Provides real-time visualization: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Through the dashboard’s bar graph, helping stakeholders monitor system activity, detect anomalies, and maintain end-to-end notification reliability</a:t>
            </a:r>
          </a:p>
        </p:txBody>
      </p:sp>
      <p:sp>
        <p:nvSpPr>
          <p:cNvPr name="AutoShape 5" id="5"/>
          <p:cNvSpPr/>
          <p:nvPr/>
        </p:nvSpPr>
        <p:spPr>
          <a:xfrm>
            <a:off x="1047750" y="1047750"/>
            <a:ext cx="1810321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39623" y="3457079"/>
            <a:ext cx="7396877" cy="45739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279436" y="2735734"/>
            <a:ext cx="1230504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53734" y="1337464"/>
            <a:ext cx="489018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DASHBOARD &amp; ANALYTICS SYSTEM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9193" y="3021330"/>
            <a:ext cx="9224061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Visualizes distribution of traffic across channels: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pie chart clearly shows which channels—SMS, Email, Push, WhatsApp—are used most frequently for outbound notifications.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</a:t>
            </a: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etects Channel Performance Issues Early: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sudden drop in usage of a major channel (like SMS) indicates provider failures or delivery outages.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</a:t>
            </a: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roves Future Capacity &amp; Scalability Planning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Understanding long-term usage trends helps decide: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– how many provider integrations are required,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– whether to enable load balancing,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– and how to scale infrastructure for peak traffic.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028700" y="1047750"/>
            <a:ext cx="181222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8" t="514" r="0" b="514"/>
          <a:stretch>
            <a:fillRect/>
          </a:stretch>
        </p:blipFill>
        <p:spPr>
          <a:xfrm flipH="false" flipV="false" rot="0">
            <a:off x="1208210" y="2857803"/>
            <a:ext cx="5235706" cy="5453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279436" y="2735734"/>
            <a:ext cx="877036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53734" y="1337464"/>
            <a:ext cx="489018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DASHBOARD &amp; ANALYTICS SYSTEM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4370" y="3509714"/>
            <a:ext cx="7468910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Gives a Clear Overview of System Activity: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The graph visually shows how many notifications were Delivered, Processed, or Categorized as Spam, helping stakeholders quickly understand overall system performance at a glance.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Demonstrates the System’s Ability to Classify Notifications Accurately: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Delivered, Failed, Spam—shows that the system is actively tracking and categorizing every message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028700" y="1047750"/>
            <a:ext cx="181222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33667" y="1413664"/>
            <a:ext cx="9750675" cy="5163068"/>
          </a:xfrm>
          <a:custGeom>
            <a:avLst/>
            <a:gdLst/>
            <a:ahLst/>
            <a:cxnLst/>
            <a:rect r="r" b="b" t="t" l="l"/>
            <a:pathLst>
              <a:path h="5163068" w="9750675">
                <a:moveTo>
                  <a:pt x="0" y="0"/>
                </a:moveTo>
                <a:lnTo>
                  <a:pt x="9750675" y="0"/>
                </a:lnTo>
                <a:lnTo>
                  <a:pt x="9750675" y="5163068"/>
                </a:lnTo>
                <a:lnTo>
                  <a:pt x="0" y="5163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" t="0" r="-718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21803" y="0"/>
            <a:ext cx="8867784" cy="10287000"/>
          </a:xfrm>
          <a:custGeom>
            <a:avLst/>
            <a:gdLst/>
            <a:ahLst/>
            <a:cxnLst/>
            <a:rect r="r" b="b" t="t" l="l"/>
            <a:pathLst>
              <a:path h="10287000" w="8867784">
                <a:moveTo>
                  <a:pt x="0" y="0"/>
                </a:moveTo>
                <a:lnTo>
                  <a:pt x="8867783" y="0"/>
                </a:lnTo>
                <a:lnTo>
                  <a:pt x="88677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3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-2998152" y="4799012"/>
            <a:ext cx="1052851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693826">
            <a:off x="16406758" y="-3566153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6"/>
                </a:moveTo>
                <a:lnTo>
                  <a:pt x="3762484" y="5929416"/>
                </a:lnTo>
                <a:lnTo>
                  <a:pt x="3762484" y="0"/>
                </a:lnTo>
                <a:lnTo>
                  <a:pt x="0" y="0"/>
                </a:lnTo>
                <a:lnTo>
                  <a:pt x="0" y="59294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93826">
            <a:off x="-2856326" y="842544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6"/>
                </a:lnTo>
                <a:lnTo>
                  <a:pt x="0" y="592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5351" y="9258300"/>
            <a:ext cx="145826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45602" y="2900481"/>
            <a:ext cx="16500086" cy="5232690"/>
          </a:xfrm>
          <a:custGeom>
            <a:avLst/>
            <a:gdLst/>
            <a:ahLst/>
            <a:cxnLst/>
            <a:rect r="r" b="b" t="t" l="l"/>
            <a:pathLst>
              <a:path h="5232690" w="16500086">
                <a:moveTo>
                  <a:pt x="0" y="0"/>
                </a:moveTo>
                <a:lnTo>
                  <a:pt x="16500086" y="0"/>
                </a:lnTo>
                <a:lnTo>
                  <a:pt x="16500086" y="5232690"/>
                </a:lnTo>
                <a:lnTo>
                  <a:pt x="0" y="5232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3" r="0" b="-64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19723" y="1238313"/>
            <a:ext cx="10048553" cy="123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POLICY MANAGER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43659" y="1181100"/>
            <a:ext cx="64320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POLICY MANAGER WORKING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73295"/>
            <a:ext cx="6847031" cy="688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3464" indent="-236732" lvl="1">
              <a:lnSpc>
                <a:spcPts val="3070"/>
              </a:lnSpc>
              <a:buFont typeface="Arial"/>
              <a:buChar char="•"/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Each event type is assigned a Classification (Critical / High / Normal).</a:t>
            </a:r>
          </a:p>
          <a:p>
            <a:pPr algn="just">
              <a:lnSpc>
                <a:spcPts val="3070"/>
              </a:lnSpc>
            </a:pPr>
          </a:p>
          <a:p>
            <a:pPr algn="just" marL="473464" indent="-236732" lvl="1">
              <a:lnSpc>
                <a:spcPts val="3070"/>
              </a:lnSpc>
              <a:buFont typeface="Arial"/>
              <a:buChar char="•"/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Delivery Mode is defined:</a:t>
            </a:r>
          </a:p>
          <a:p>
            <a:pPr algn="just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</a:t>
            </a: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Parallel → All channels attempted at same time</a:t>
            </a:r>
          </a:p>
          <a:p>
            <a:pPr algn="just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</a:t>
            </a: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Sequential → Channels attempted one after    another</a:t>
            </a:r>
          </a:p>
          <a:p>
            <a:pPr algn="just">
              <a:lnSpc>
                <a:spcPts val="3070"/>
              </a:lnSpc>
            </a:pPr>
          </a:p>
          <a:p>
            <a:pPr algn="just" marL="473464" indent="-236732" lvl="1">
              <a:lnSpc>
                <a:spcPts val="3070"/>
              </a:lnSpc>
              <a:buFont typeface="Arial"/>
              <a:buChar char="•"/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list of Channels is assigned in priority order.</a:t>
            </a:r>
          </a:p>
          <a:p>
            <a:pPr algn="just">
              <a:lnSpc>
                <a:spcPts val="3070"/>
              </a:lnSpc>
            </a:pPr>
          </a:p>
          <a:p>
            <a:pPr algn="just" marL="473464" indent="-236732" lvl="1">
              <a:lnSpc>
                <a:spcPts val="3070"/>
              </a:lnSpc>
              <a:buFont typeface="Arial"/>
              <a:buChar char="•"/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Retry Count determines how many attempts per channel.</a:t>
            </a:r>
          </a:p>
          <a:p>
            <a:pPr algn="just">
              <a:lnSpc>
                <a:spcPts val="3070"/>
              </a:lnSpc>
            </a:pPr>
          </a:p>
          <a:p>
            <a:pPr algn="just" marL="473464" indent="-236732" lvl="1">
              <a:lnSpc>
                <a:spcPts val="3070"/>
              </a:lnSpc>
              <a:buFont typeface="Arial"/>
              <a:buChar char="•"/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Escalation Rules define what to do if all attempts fail:</a:t>
            </a:r>
          </a:p>
          <a:p>
            <a:pPr algn="just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Phone Call</a:t>
            </a:r>
          </a:p>
          <a:p>
            <a:pPr algn="just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Secure Inbox</a:t>
            </a:r>
          </a:p>
          <a:p>
            <a:pPr algn="just">
              <a:lnSpc>
                <a:spcPts val="3070"/>
              </a:lnSpc>
            </a:pP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</a:t>
            </a:r>
            <a:r>
              <a:rPr lang="en-US" sz="219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Ops Alert</a:t>
            </a:r>
          </a:p>
          <a:p>
            <a:pPr algn="just">
              <a:lnSpc>
                <a:spcPts val="307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462444" y="2363770"/>
            <a:ext cx="6432072" cy="628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Policy Manager logic is based on: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Risk level of event (e.g. Fraud Alert &gt; Reward Points)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Time sensitivity (OTPs must be instant)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Compliance requirements (Statements → Email)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 trust requirements (Beneficiary Added → Secure Inbox)</a:t>
            </a:r>
          </a:p>
          <a:p>
            <a:pPr algn="just">
              <a:lnSpc>
                <a:spcPts val="3359"/>
              </a:lnSpc>
            </a:pP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Channel reliability &amp; cost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462444" y="1181100"/>
            <a:ext cx="643207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POLICY DECISION FACTORS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435361">
            <a:off x="16468406" y="-390526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5"/>
                </a:moveTo>
                <a:lnTo>
                  <a:pt x="3762484" y="5929415"/>
                </a:lnTo>
                <a:lnTo>
                  <a:pt x="3762484" y="0"/>
                </a:lnTo>
                <a:lnTo>
                  <a:pt x="0" y="0"/>
                </a:lnTo>
                <a:lnTo>
                  <a:pt x="0" y="59294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4953" y="1359069"/>
            <a:ext cx="655809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TECH-STACK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223527"/>
            <a:ext cx="5177706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Frontend Dashboard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HTML/CSS: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ensures clean layout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JavaScript (Chart.js):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fetches real-time analytics and logs from Flask backend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Chart.js visualizes: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Channel Usage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Message Volume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Status Breakdown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KPIs (Delivered, Failed, Spam, Success Rate)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3110573" y="3406499"/>
            <a:ext cx="116876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6" id="6"/>
          <p:cNvSpPr txBox="true"/>
          <p:nvPr/>
        </p:nvSpPr>
        <p:spPr>
          <a:xfrm rot="0">
            <a:off x="12337195" y="4423552"/>
            <a:ext cx="4922105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Provider Layer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Channels include: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SMSProviderMock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EmailProviderMock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PushProviderMock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WhatsAppProviderMock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7" id="7"/>
          <p:cNvSpPr/>
          <p:nvPr/>
        </p:nvSpPr>
        <p:spPr>
          <a:xfrm flipV="true">
            <a:off x="9144000" y="2516883"/>
            <a:ext cx="0" cy="14780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-326389" y="1272291"/>
            <a:ext cx="153735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2741470" y="2516883"/>
            <a:ext cx="160908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324352" y="4223527"/>
            <a:ext cx="5639295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Backend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Python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: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core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notification engine, rules engine, retry logic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</a:t>
            </a: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ask: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API endpoints, Trigger Workflow, Serving policy data to dashboard.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Database: SQLite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Stores: </a:t>
            </a: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 logs,  delivery attempts, secure inbox messages, retry, analytics data, Idempotency keys, Escalation flags and Status tracking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66146"/>
            <a:ext cx="16230600" cy="7392154"/>
          </a:xfrm>
          <a:custGeom>
            <a:avLst/>
            <a:gdLst/>
            <a:ahLst/>
            <a:cxnLst/>
            <a:rect r="r" b="b" t="t" l="l"/>
            <a:pathLst>
              <a:path h="7392154" w="16230600">
                <a:moveTo>
                  <a:pt x="0" y="0"/>
                </a:moveTo>
                <a:lnTo>
                  <a:pt x="16230600" y="0"/>
                </a:lnTo>
                <a:lnTo>
                  <a:pt x="16230600" y="7392154"/>
                </a:lnTo>
                <a:lnTo>
                  <a:pt x="0" y="7392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08219" y="942975"/>
            <a:ext cx="707156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NOTIFICATION CONSOLE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5582" y="2131208"/>
            <a:ext cx="13116837" cy="6853406"/>
          </a:xfrm>
          <a:custGeom>
            <a:avLst/>
            <a:gdLst/>
            <a:ahLst/>
            <a:cxnLst/>
            <a:rect r="r" b="b" t="t" l="l"/>
            <a:pathLst>
              <a:path h="6853406" w="13116837">
                <a:moveTo>
                  <a:pt x="0" y="0"/>
                </a:moveTo>
                <a:lnTo>
                  <a:pt x="13116836" y="0"/>
                </a:lnTo>
                <a:lnTo>
                  <a:pt x="13116836" y="6853406"/>
                </a:lnTo>
                <a:lnTo>
                  <a:pt x="0" y="6853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08219" y="1137992"/>
            <a:ext cx="707156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REAL-TIME DELIVERY LOGS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1375212">
            <a:off x="15976717" y="-3850778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5929415"/>
                </a:moveTo>
                <a:lnTo>
                  <a:pt x="3762483" y="5929415"/>
                </a:lnTo>
                <a:lnTo>
                  <a:pt x="3762483" y="0"/>
                </a:lnTo>
                <a:lnTo>
                  <a:pt x="0" y="0"/>
                </a:lnTo>
                <a:lnTo>
                  <a:pt x="0" y="59294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93826">
            <a:off x="-1881242" y="7840392"/>
            <a:ext cx="3762484" cy="5929415"/>
          </a:xfrm>
          <a:custGeom>
            <a:avLst/>
            <a:gdLst/>
            <a:ahLst/>
            <a:cxnLst/>
            <a:rect r="r" b="b" t="t" l="l"/>
            <a:pathLst>
              <a:path h="5929415" w="3762484">
                <a:moveTo>
                  <a:pt x="0" y="0"/>
                </a:moveTo>
                <a:lnTo>
                  <a:pt x="3762484" y="0"/>
                </a:lnTo>
                <a:lnTo>
                  <a:pt x="3762484" y="5929415"/>
                </a:lnTo>
                <a:lnTo>
                  <a:pt x="0" y="5929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64953" y="1397169"/>
            <a:ext cx="6558093" cy="13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335798" y="2975610"/>
            <a:ext cx="7613840" cy="58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PostgreSQL/MySQL support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Message queue integration (Celery/RabbitMQ)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Advanced analytics dashboard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A/B testing for delivery channels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ML-based optimal channel selection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 provider integrations (SendGrid, Twilio, etc.)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WebSocket live notification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H="true" flipV="true">
            <a:off x="5845903" y="2543344"/>
            <a:ext cx="19050" cy="67149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326389" y="1272291"/>
            <a:ext cx="150322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884418" y="2562394"/>
            <a:ext cx="145165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5864953" y="3262679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5845903" y="4158029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5845903" y="4877705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5845903" y="5773055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5845903" y="6668405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5845903" y="7392305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5845903" y="8287655"/>
            <a:ext cx="131823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41408" y="82296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16218380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4114800"/>
                </a:moveTo>
                <a:lnTo>
                  <a:pt x="2611028" y="4114800"/>
                </a:lnTo>
                <a:lnTo>
                  <a:pt x="261102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4217" y="3725484"/>
            <a:ext cx="9579566" cy="193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b="true" sz="11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75867" y="9531889"/>
            <a:ext cx="1510221" cy="1510221"/>
          </a:xfrm>
          <a:custGeom>
            <a:avLst/>
            <a:gdLst/>
            <a:ahLst/>
            <a:cxnLst/>
            <a:rect r="r" b="b" t="t" l="l"/>
            <a:pathLst>
              <a:path h="1510221" w="1510221">
                <a:moveTo>
                  <a:pt x="0" y="0"/>
                </a:moveTo>
                <a:lnTo>
                  <a:pt x="1510221" y="0"/>
                </a:lnTo>
                <a:lnTo>
                  <a:pt x="1510221" y="1510222"/>
                </a:lnTo>
                <a:lnTo>
                  <a:pt x="0" y="151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01912" y="-755111"/>
            <a:ext cx="1510221" cy="1510221"/>
          </a:xfrm>
          <a:custGeom>
            <a:avLst/>
            <a:gdLst/>
            <a:ahLst/>
            <a:cxnLst/>
            <a:rect r="r" b="b" t="t" l="l"/>
            <a:pathLst>
              <a:path h="1510221" w="1510221">
                <a:moveTo>
                  <a:pt x="0" y="0"/>
                </a:moveTo>
                <a:lnTo>
                  <a:pt x="1510221" y="0"/>
                </a:lnTo>
                <a:lnTo>
                  <a:pt x="1510221" y="1510222"/>
                </a:lnTo>
                <a:lnTo>
                  <a:pt x="0" y="1510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12133" y="9213897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2" y="0"/>
                </a:lnTo>
                <a:lnTo>
                  <a:pt x="3745232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69365" y="-2672129"/>
            <a:ext cx="3745232" cy="3745232"/>
          </a:xfrm>
          <a:custGeom>
            <a:avLst/>
            <a:gdLst/>
            <a:ahLst/>
            <a:cxnLst/>
            <a:rect r="r" b="b" t="t" l="l"/>
            <a:pathLst>
              <a:path h="3745232" w="3745232">
                <a:moveTo>
                  <a:pt x="0" y="0"/>
                </a:moveTo>
                <a:lnTo>
                  <a:pt x="3745232" y="0"/>
                </a:lnTo>
                <a:lnTo>
                  <a:pt x="3745232" y="3745232"/>
                </a:lnTo>
                <a:lnTo>
                  <a:pt x="0" y="374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6754" y="3243630"/>
            <a:ext cx="1474411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821506" y="6663958"/>
            <a:ext cx="1554134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354217" y="7148116"/>
            <a:ext cx="1065791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Connect with me: 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u="sng">
                <a:solidFill>
                  <a:srgbClr val="004AAD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6" tooltip="https://www.linkedin.com/in/sahid-ahmed/"/>
              </a:rPr>
              <a:t>https://www.linkedin.com/in/sahid-ahmed/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DAG68kfl5-w</dc:identifier>
  <dcterms:modified xsi:type="dcterms:W3CDTF">2011-08-01T06:04:30Z</dcterms:modified>
  <cp:revision>1</cp:revision>
  <dc:title>Trusted_Notification_System_PPT</dc:title>
</cp:coreProperties>
</file>